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24A80"/>
                </a:solidFill>
                <a:latin typeface="Microsoft YaHei"/>
              </a:rPr>
              <a:t>电信客户流失预测与价值细分系统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232F3E"/>
                </a:solidFill>
                <a:latin typeface="Microsoft YaHei"/>
              </a:rPr>
              <a:t>数据分析与数据挖掘课程项目 · 项目6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657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32F3E"/>
                </a:solidFill>
                <a:latin typeface="Microsoft YaHei"/>
              </a:rPr>
              <a:t>小组成员：2023***-姓名 / 2023***-姓名 / 2023***-姓名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4A80"/>
                </a:solidFill>
                <a:latin typeface="Microsoft YaHei"/>
              </a:rPr>
              <a:t>1. 任务定义与业务目标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0607040" cy="18288"/>
          </a:xfrm>
          <a:prstGeom prst="rect">
            <a:avLst/>
          </a:prstGeom>
          <a:solidFill>
            <a:srgbClr val="BE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32F3E"/>
                </a:solidFill>
                <a:latin typeface="Microsoft YaHei"/>
              </a:defRPr>
            </a:pPr>
            <a:r>
              <a:t>目标：提前识别高流失风险客户，并输出差异化挽留策略</a:t>
            </a:r>
          </a:p>
          <a:p>
            <a:pPr>
              <a:defRPr sz="2000">
                <a:solidFill>
                  <a:srgbClr val="232F3E"/>
                </a:solidFill>
                <a:latin typeface="Microsoft YaHei"/>
              </a:defRPr>
            </a:pPr>
            <a:r>
              <a:t>数据：7043名客户，21个原始字段，目标变量 Churn</a:t>
            </a:r>
          </a:p>
          <a:p>
            <a:pPr>
              <a:defRPr sz="2000">
                <a:solidFill>
                  <a:srgbClr val="232F3E"/>
                </a:solidFill>
                <a:latin typeface="Microsoft YaHei"/>
              </a:defRPr>
            </a:pPr>
            <a:r>
              <a:t>难点：类别不均衡、类别特征多、业务上更重视召回而非单纯准确率</a:t>
            </a:r>
          </a:p>
          <a:p>
            <a:pPr>
              <a:defRPr sz="2000">
                <a:solidFill>
                  <a:srgbClr val="232F3E"/>
                </a:solidFill>
                <a:latin typeface="Microsoft YaHei"/>
              </a:defRPr>
            </a:pPr>
            <a:r>
              <a:t>交付：分类模型 + 客户分群 + 特征解释 + 运营建议</a:t>
            </a:r>
          </a:p>
        </p:txBody>
      </p:sp>
      <p:pic>
        <p:nvPicPr>
          <p:cNvPr id="7" name="Picture 6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46634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4A80"/>
                </a:solidFill>
                <a:latin typeface="Microsoft YaHei"/>
              </a:rPr>
              <a:t>2. 数据理解：谁更容易流失？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0607040" cy="18288"/>
          </a:xfrm>
          <a:prstGeom prst="rect">
            <a:avLst/>
          </a:prstGeom>
          <a:solidFill>
            <a:srgbClr val="BE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nure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5303520" cy="2834640"/>
          </a:xfrm>
          <a:prstGeom prst="rect">
            <a:avLst/>
          </a:prstGeom>
        </p:spPr>
      </p:pic>
      <p:pic>
        <p:nvPicPr>
          <p:cNvPr id="7" name="Picture 6" descr="monthly_charges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4937760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470916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24A80"/>
                </a:solidFill>
                <a:latin typeface="Microsoft YaHei"/>
              </a:rPr>
              <a:t>核心观察：短在网时长、高月费用客户的流失风险更高；费用压力与客户绑定程度是建模主线。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4A80"/>
                </a:solidFill>
                <a:latin typeface="Microsoft YaHei"/>
              </a:rPr>
              <a:t>3. 合约类型是最强业务信号之一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0607040" cy="18288"/>
          </a:xfrm>
          <a:prstGeom prst="rect">
            <a:avLst/>
          </a:prstGeom>
          <a:solidFill>
            <a:srgbClr val="BE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ract_chur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143000"/>
            <a:ext cx="594360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06640" y="1508760"/>
            <a:ext cx="3840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32F3E"/>
                </a:solidFill>
                <a:latin typeface="Microsoft YaHei"/>
              </a:defRPr>
            </a:pPr>
            <a:r>
              <a:t>Month-to-month 客户流失率显著最高</a:t>
            </a:r>
          </a:p>
          <a:p>
            <a:pPr>
              <a:defRPr sz="2000">
                <a:solidFill>
                  <a:srgbClr val="232F3E"/>
                </a:solidFill>
                <a:latin typeface="Microsoft YaHei"/>
              </a:defRPr>
            </a:pPr>
            <a:r>
              <a:t>一年期、两年期合约具备明显绑定效应</a:t>
            </a:r>
          </a:p>
          <a:p>
            <a:pPr>
              <a:defRPr sz="2000">
                <a:solidFill>
                  <a:srgbClr val="232F3E"/>
                </a:solidFill>
                <a:latin typeface="Microsoft YaHei"/>
              </a:defRPr>
            </a:pPr>
            <a:r>
              <a:t>后续策略：将高风险月付客户转化为中长期合约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4A80"/>
                </a:solidFill>
                <a:latin typeface="Microsoft YaHei"/>
              </a:rPr>
              <a:t>4. 技术路线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0607040" cy="18288"/>
          </a:xfrm>
          <a:prstGeom prst="rect">
            <a:avLst/>
          </a:prstGeom>
          <a:solidFill>
            <a:srgbClr val="BE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417320" cy="685800"/>
          </a:xfrm>
          <a:prstGeom prst="roundRect">
            <a:avLst/>
          </a:prstGeom>
          <a:solidFill>
            <a:srgbClr val="DEEBF7"/>
          </a:solidFill>
          <a:ln>
            <a:solidFill>
              <a:srgbClr val="2D7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24A80"/>
                </a:solidFill>
                <a:latin typeface="Microsoft YaHei"/>
              </a:rPr>
              <a:t>数据清洗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29967" y="2121408"/>
            <a:ext cx="457200" cy="347472"/>
          </a:xfrm>
          <a:prstGeom prst="rightArrow">
            <a:avLst/>
          </a:prstGeom>
          <a:solidFill>
            <a:srgbClr val="2D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14600" y="1965960"/>
            <a:ext cx="1417320" cy="685800"/>
          </a:xfrm>
          <a:prstGeom prst="roundRect">
            <a:avLst/>
          </a:prstGeom>
          <a:solidFill>
            <a:srgbClr val="DEEBF7"/>
          </a:solidFill>
          <a:ln>
            <a:solidFill>
              <a:srgbClr val="2D7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24A80"/>
                </a:solidFill>
                <a:latin typeface="Microsoft YaHei"/>
              </a:rPr>
              <a:t>特征工程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04487" y="2121408"/>
            <a:ext cx="457200" cy="347472"/>
          </a:xfrm>
          <a:prstGeom prst="rightArrow">
            <a:avLst/>
          </a:prstGeom>
          <a:solidFill>
            <a:srgbClr val="2D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1417320" cy="685800"/>
          </a:xfrm>
          <a:prstGeom prst="roundRect">
            <a:avLst/>
          </a:prstGeom>
          <a:solidFill>
            <a:srgbClr val="DEEBF7"/>
          </a:solidFill>
          <a:ln>
            <a:solidFill>
              <a:srgbClr val="2D7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24A80"/>
                </a:solidFill>
                <a:latin typeface="Microsoft YaHei"/>
              </a:rPr>
              <a:t>模型训练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79008" y="2121408"/>
            <a:ext cx="457200" cy="347472"/>
          </a:xfrm>
          <a:prstGeom prst="rightArrow">
            <a:avLst/>
          </a:prstGeom>
          <a:solidFill>
            <a:srgbClr val="2D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965960"/>
            <a:ext cx="1417320" cy="685800"/>
          </a:xfrm>
          <a:prstGeom prst="roundRect">
            <a:avLst/>
          </a:prstGeom>
          <a:solidFill>
            <a:srgbClr val="DEEBF7"/>
          </a:solidFill>
          <a:ln>
            <a:solidFill>
              <a:srgbClr val="2D7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24A80"/>
                </a:solidFill>
                <a:latin typeface="Microsoft YaHei"/>
              </a:rPr>
              <a:t>阈值优化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53527" y="2121408"/>
            <a:ext cx="457200" cy="347472"/>
          </a:xfrm>
          <a:prstGeom prst="rightArrow">
            <a:avLst/>
          </a:prstGeom>
          <a:solidFill>
            <a:srgbClr val="2D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59" y="1965960"/>
            <a:ext cx="1417320" cy="685800"/>
          </a:xfrm>
          <a:prstGeom prst="roundRect">
            <a:avLst/>
          </a:prstGeom>
          <a:solidFill>
            <a:srgbClr val="DEEBF7"/>
          </a:solidFill>
          <a:ln>
            <a:solidFill>
              <a:srgbClr val="2D7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24A80"/>
                </a:solidFill>
                <a:latin typeface="Microsoft YaHei"/>
              </a:rPr>
              <a:t>客户分群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528047" y="2121408"/>
            <a:ext cx="457200" cy="347472"/>
          </a:xfrm>
          <a:prstGeom prst="rightArrow">
            <a:avLst/>
          </a:prstGeom>
          <a:solidFill>
            <a:srgbClr val="2D7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12680" y="1965960"/>
            <a:ext cx="1417320" cy="685800"/>
          </a:xfrm>
          <a:prstGeom prst="roundRect">
            <a:avLst/>
          </a:prstGeom>
          <a:solidFill>
            <a:srgbClr val="DEEBF7"/>
          </a:solidFill>
          <a:ln>
            <a:solidFill>
              <a:srgbClr val="2D7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24A80"/>
                </a:solidFill>
                <a:latin typeface="Microsoft YaHei"/>
              </a:rPr>
              <a:t>策略输出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337560"/>
            <a:ext cx="9784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缺失值：TotalCharges 空白值按 zero-tenure 业务逻辑填充为 0</a:t>
            </a:r>
          </a:p>
          <a:p>
            <a:pPr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编码：类别变量 One-Hot，数值变量标准化</a:t>
            </a:r>
          </a:p>
          <a:p>
            <a:pPr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不平衡：SMOTE 与 class_weight</a:t>
            </a:r>
          </a:p>
          <a:p>
            <a:pPr>
              <a:defRPr sz="1800">
                <a:solidFill>
                  <a:srgbClr val="232F3E"/>
                </a:solidFill>
                <a:latin typeface="Microsoft YaHei"/>
              </a:defRPr>
            </a:pPr>
            <a:r>
              <a:t>评价：ROC-AUC、PR-AUC、F1、Recall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4A80"/>
                </a:solidFill>
                <a:latin typeface="Microsoft YaHei"/>
              </a:rPr>
              <a:t>5. 模型设计与对比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0607040" cy="18288"/>
          </a:xfrm>
          <a:prstGeom prst="rect">
            <a:avLst/>
          </a:prstGeom>
          <a:solidFill>
            <a:srgbClr val="BE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234440"/>
          <a:ext cx="10332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232F3E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232F3E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32F3E"/>
                          </a:solidFill>
                          <a:latin typeface="Microsoft YaHei"/>
                        </a:rPr>
                        <a:t>Logistic Regression + SMOTE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32F3E"/>
                          </a:solidFill>
                          <a:latin typeface="Microsoft YaHei"/>
                        </a:rPr>
                        <a:t>线性基线，召回高，误报偏多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32F3E"/>
                          </a:solidFill>
                          <a:latin typeface="Microsoft YaHei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32F3E"/>
                          </a:solidFill>
                          <a:latin typeface="Microsoft YaHei"/>
                        </a:rPr>
                        <a:t>非线性集成，稳健但排序略弱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32F3E"/>
                          </a:solidFill>
                          <a:latin typeface="Microsoft YaHei"/>
                        </a:rP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32F3E"/>
                          </a:solidFill>
                          <a:latin typeface="Microsoft YaHei"/>
                        </a:rPr>
                        <a:t>逐步拟合残差，最终主模型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5840" y="329184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32F3E"/>
                </a:solidFill>
                <a:latin typeface="Microsoft YaHei"/>
              </a:defRPr>
            </a:pPr>
            <a:r>
              <a:t>训练/测试：80/20 分层划分，随机种子 42</a:t>
            </a:r>
          </a:p>
          <a:p>
            <a:pPr>
              <a:defRPr sz="2000">
                <a:solidFill>
                  <a:srgbClr val="232F3E"/>
                </a:solidFill>
                <a:latin typeface="Microsoft YaHei"/>
              </a:defRPr>
            </a:pPr>
            <a:r>
              <a:t>特征：原始字段 + AvgMonthlyCharge、TenureSegment、ChargePerTenure</a:t>
            </a:r>
          </a:p>
          <a:p>
            <a:pPr>
              <a:defRPr sz="2000">
                <a:solidFill>
                  <a:srgbClr val="232F3E"/>
                </a:solidFill>
                <a:latin typeface="Microsoft YaHei"/>
              </a:defRPr>
            </a:pPr>
            <a:r>
              <a:t>阈值：默认 0.5 与 F1 最优阈值两套结果并行报告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4A80"/>
                </a:solidFill>
                <a:latin typeface="Microsoft YaHei"/>
              </a:rPr>
              <a:t>6. 分类模型实验结果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0607040" cy="18288"/>
          </a:xfrm>
          <a:prstGeom prst="rect">
            <a:avLst/>
          </a:prstGeom>
          <a:solidFill>
            <a:srgbClr val="BE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232F3E"/>
                          </a:solidFill>
                          <a:latin typeface="Microsoft YaHei"/>
                        </a:rPr>
                        <a:t>Model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232F3E"/>
                          </a:solidFill>
                          <a:latin typeface="Microsoft YaHei"/>
                        </a:rPr>
                        <a:t>Accuracy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232F3E"/>
                          </a:solidFill>
                          <a:latin typeface="Microsoft YaHei"/>
                        </a:rPr>
                        <a:t>Precision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232F3E"/>
                          </a:solidFill>
                          <a:latin typeface="Microsoft YaHei"/>
                        </a:rPr>
                        <a:t>Recall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232F3E"/>
                          </a:solidFill>
                          <a:latin typeface="Microsoft YaHei"/>
                        </a:rPr>
                        <a:t>F1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232F3E"/>
                          </a:solidFill>
                          <a:latin typeface="Microsoft YaHei"/>
                        </a:rPr>
                        <a:t>ROC_AUC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232F3E"/>
                          </a:solidFill>
                          <a:latin typeface="Microsoft YaHei"/>
                        </a:rPr>
                        <a:t>PR_AUC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GradientBoosting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0.801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0.511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0.668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0.634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0.659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LogisticRegression_SMOTE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0.621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0.660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24A80"/>
                </a:solidFill>
                <a:latin typeface="Microsoft YaHei"/>
              </a:rPr>
              <a:t>最优模型：GradientBoosting，ROC-AUC=0.847，PR-AUC=0.668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4A80"/>
                </a:solidFill>
                <a:latin typeface="Microsoft YaHei"/>
              </a:rPr>
              <a:t>7. ROC 与 PR 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0607040" cy="18288"/>
          </a:xfrm>
          <a:prstGeom prst="rect">
            <a:avLst/>
          </a:prstGeom>
          <a:solidFill>
            <a:srgbClr val="BE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97280"/>
            <a:ext cx="5303520" cy="4023360"/>
          </a:xfrm>
          <a:prstGeom prst="rect">
            <a:avLst/>
          </a:prstGeom>
        </p:spPr>
      </p:pic>
      <p:pic>
        <p:nvPicPr>
          <p:cNvPr id="7" name="Picture 6" descr="pr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3035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4A80"/>
                </a:solidFill>
                <a:latin typeface="Microsoft YaHei"/>
              </a:rPr>
              <a:t>8. 阈值优化：为业务召回服务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0607040" cy="18288"/>
          </a:xfrm>
          <a:prstGeom prst="rect">
            <a:avLst/>
          </a:prstGeom>
          <a:solidFill>
            <a:srgbClr val="BE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fusion_matrix_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466344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89320" y="141732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2F3E"/>
                </a:solidFill>
                <a:latin typeface="Microsoft YaHei"/>
              </a:defRPr>
            </a:pPr>
            <a:r>
              <a:t>F1 最优阈值：0.280</a:t>
            </a:r>
          </a:p>
          <a:p>
            <a:pPr>
              <a:defRPr sz="2200">
                <a:solidFill>
                  <a:srgbClr val="232F3E"/>
                </a:solidFill>
                <a:latin typeface="Microsoft YaHei"/>
              </a:defRPr>
            </a:pPr>
            <a:r>
              <a:t>Recall：0.794</a:t>
            </a:r>
          </a:p>
          <a:p>
            <a:pPr>
              <a:defRPr sz="2200">
                <a:solidFill>
                  <a:srgbClr val="232F3E"/>
                </a:solidFill>
                <a:latin typeface="Microsoft YaHei"/>
              </a:defRPr>
            </a:pPr>
            <a:r>
              <a:t>F1：0.637</a:t>
            </a:r>
          </a:p>
          <a:p>
            <a:pPr>
              <a:defRPr sz="2200">
                <a:solidFill>
                  <a:srgbClr val="232F3E"/>
                </a:solidFill>
                <a:latin typeface="Microsoft YaHei"/>
              </a:defRPr>
            </a:pPr>
            <a:r>
              <a:t>业务解释：宁可多触达一部分疑似客户，也要减少真正流失客户漏识别。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4A80"/>
                </a:solidFill>
                <a:latin typeface="Microsoft YaHei"/>
              </a:rPr>
              <a:t>9. 关键流失因子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0607040" cy="18288"/>
          </a:xfrm>
          <a:prstGeom prst="rect">
            <a:avLst/>
          </a:prstGeom>
          <a:solidFill>
            <a:srgbClr val="BE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eature_importance_to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57607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29400" y="14173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32F3E"/>
                </a:solidFill>
                <a:latin typeface="Microsoft YaHei"/>
              </a:defRPr>
            </a:pPr>
            <a:r>
              <a:t>ChargePerTenure：短期费用压力</a:t>
            </a:r>
          </a:p>
          <a:p>
            <a:pPr>
              <a:defRPr sz="1900">
                <a:solidFill>
                  <a:srgbClr val="232F3E"/>
                </a:solidFill>
                <a:latin typeface="Microsoft YaHei"/>
              </a:defRPr>
            </a:pPr>
            <a:r>
              <a:t>Month-to-month：绑定程度低</a:t>
            </a:r>
          </a:p>
          <a:p>
            <a:pPr>
              <a:defRPr sz="1900">
                <a:solidFill>
                  <a:srgbClr val="232F3E"/>
                </a:solidFill>
                <a:latin typeface="Microsoft YaHei"/>
              </a:defRPr>
            </a:pPr>
            <a:r>
              <a:t>Fiber optic：高价格/高期望服务群体</a:t>
            </a:r>
          </a:p>
          <a:p>
            <a:pPr>
              <a:defRPr sz="1900">
                <a:solidFill>
                  <a:srgbClr val="232F3E"/>
                </a:solidFill>
                <a:latin typeface="Microsoft YaHei"/>
              </a:defRPr>
            </a:pPr>
            <a:r>
              <a:t>OnlineSecurity / TechSupport：服务保障缺失</a:t>
            </a:r>
          </a:p>
          <a:p>
            <a:pPr>
              <a:defRPr sz="1900">
                <a:solidFill>
                  <a:srgbClr val="232F3E"/>
                </a:solidFill>
                <a:latin typeface="Microsoft YaHei"/>
              </a:defRPr>
            </a:pPr>
            <a:r>
              <a:t>Electronic check：高风险支付方式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4A80"/>
                </a:solidFill>
                <a:latin typeface="Microsoft YaHei"/>
              </a:rPr>
              <a:t>10. 客户价值细分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0607040" cy="18288"/>
          </a:xfrm>
          <a:prstGeom prst="rect">
            <a:avLst/>
          </a:prstGeom>
          <a:solidFill>
            <a:srgbClr val="BE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ustomer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5303520" cy="41148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234440"/>
          <a:ext cx="5394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/>
                <a:gridCol w="1078992"/>
                <a:gridCol w="1078992"/>
                <a:gridCol w="1078992"/>
                <a:gridCol w="1078992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232F3E"/>
                          </a:solidFill>
                          <a:latin typeface="Microsoft YaHei"/>
                        </a:rPr>
                        <a:t>CustomerSegment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232F3E"/>
                          </a:solidFill>
                          <a:latin typeface="Microsoft YaHei"/>
                        </a:rPr>
                        <a:t>Customers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232F3E"/>
                          </a:solidFill>
                          <a:latin typeface="Microsoft YaHei"/>
                        </a:rPr>
                        <a:t>ChurnRate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232F3E"/>
                          </a:solidFill>
                          <a:latin typeface="Microsoft YaHei"/>
                        </a:rPr>
                        <a:t>AvgTenure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232F3E"/>
                          </a:solidFill>
                          <a:latin typeface="Microsoft YaHei"/>
                        </a:rPr>
                        <a:t>AvgMonthlyCharges</a:t>
                      </a:r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2.000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755.000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1.721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69.729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3.000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1987.000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19.352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78.712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2061.000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59.930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89.958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2240.000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0.128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28.895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32F3E"/>
                          </a:solidFill>
                          <a:latin typeface="Microsoft YaHei"/>
                        </a:rPr>
                        <a:t>27.530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3977639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F3E"/>
                </a:solidFill>
                <a:latin typeface="Microsoft YaHei"/>
              </a:defRPr>
            </a:pPr>
            <a:r>
              <a:t>按风险与价值分层运营</a:t>
            </a:r>
          </a:p>
          <a:p>
            <a:pPr>
              <a:defRPr sz="1700">
                <a:solidFill>
                  <a:srgbClr val="232F3E"/>
                </a:solidFill>
                <a:latin typeface="Microsoft YaHei"/>
              </a:defRPr>
            </a:pPr>
            <a:r>
              <a:t>高流失短周期客户：首月体验与合约迁移</a:t>
            </a:r>
          </a:p>
          <a:p>
            <a:pPr>
              <a:defRPr sz="1700">
                <a:solidFill>
                  <a:srgbClr val="232F3E"/>
                </a:solidFill>
                <a:latin typeface="Microsoft YaHei"/>
              </a:defRPr>
            </a:pPr>
            <a:r>
              <a:t>稳定高价值客户：服务质量与权益维护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4A80"/>
                </a:solidFill>
                <a:latin typeface="Microsoft YaHei"/>
              </a:rPr>
              <a:t>11. 业务策略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0607040" cy="18288"/>
          </a:xfrm>
          <a:prstGeom prst="rect">
            <a:avLst/>
          </a:prstGeom>
          <a:solidFill>
            <a:srgbClr val="BE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32F3E"/>
                </a:solidFill>
                <a:latin typeface="Microsoft YaHei"/>
              </a:defRPr>
            </a:pPr>
            <a:r>
              <a:t>高风险月付客户：推送半年/一年期过渡合约，降低流失概率</a:t>
            </a:r>
          </a:p>
          <a:p>
            <a:pPr>
              <a:defRPr sz="2200">
                <a:solidFill>
                  <a:srgbClr val="232F3E"/>
                </a:solidFill>
                <a:latin typeface="Microsoft YaHei"/>
              </a:defRPr>
            </a:pPr>
            <a:r>
              <a:t>高费用短 tenure 客户：解释账单结构，提供新客缓冲优惠</a:t>
            </a:r>
          </a:p>
          <a:p>
            <a:pPr>
              <a:defRPr sz="2200">
                <a:solidFill>
                  <a:srgbClr val="232F3E"/>
                </a:solidFill>
                <a:latin typeface="Microsoft YaHei"/>
              </a:defRPr>
            </a:pPr>
            <a:r>
              <a:t>未订购安全/技术支持客户：做服务捆绑，提升体验确定性</a:t>
            </a:r>
          </a:p>
          <a:p>
            <a:pPr>
              <a:defRPr sz="2200">
                <a:solidFill>
                  <a:srgbClr val="232F3E"/>
                </a:solidFill>
                <a:latin typeface="Microsoft YaHei"/>
              </a:defRPr>
            </a:pPr>
            <a:r>
              <a:t>电子支票客户：引导自动扣款，减少支付摩擦</a:t>
            </a:r>
          </a:p>
          <a:p>
            <a:pPr>
              <a:defRPr sz="2200">
                <a:solidFill>
                  <a:srgbClr val="232F3E"/>
                </a:solidFill>
                <a:latin typeface="Microsoft YaHei"/>
              </a:defRPr>
            </a:pPr>
            <a:r>
              <a:t>运营闭环：每月重训模型，形成风险名单 - 触达 - 反馈 - 再训练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2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4A80"/>
                </a:solidFill>
                <a:latin typeface="Microsoft YaHei"/>
              </a:rPr>
              <a:t>12. 结论与展望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22960"/>
            <a:ext cx="10607040" cy="18288"/>
          </a:xfrm>
          <a:prstGeom prst="rect">
            <a:avLst/>
          </a:prstGeom>
          <a:solidFill>
            <a:srgbClr val="BED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32F3E"/>
                </a:solidFill>
                <a:latin typeface="Microsoft YaHei"/>
              </a:defRPr>
            </a:pPr>
            <a:r>
              <a:t>Gradient Boosting 取得最佳综合表现：ROC-AUC=0.847</a:t>
            </a:r>
          </a:p>
          <a:p>
            <a:pPr>
              <a:defRPr sz="2400">
                <a:solidFill>
                  <a:srgbClr val="232F3E"/>
                </a:solidFill>
                <a:latin typeface="Microsoft YaHei"/>
              </a:defRPr>
            </a:pPr>
            <a:r>
              <a:t>阈值优化后召回率提升至 0.794，更适合客户挽留场景</a:t>
            </a:r>
          </a:p>
          <a:p>
            <a:pPr>
              <a:defRPr sz="2400">
                <a:solidFill>
                  <a:srgbClr val="232F3E"/>
                </a:solidFill>
                <a:latin typeface="Microsoft YaHei"/>
              </a:defRPr>
            </a:pPr>
            <a:r>
              <a:t>合约类型、费用压力、服务保障与支付方式是主要流失因子</a:t>
            </a:r>
          </a:p>
          <a:p>
            <a:pPr>
              <a:defRPr sz="2400">
                <a:solidFill>
                  <a:srgbClr val="232F3E"/>
                </a:solidFill>
                <a:latin typeface="Microsoft YaHei"/>
              </a:defRPr>
            </a:pPr>
            <a:r>
              <a:t>后续改进：引入时间序列行为、XGBoost/LightGBM 系统调参、SHAP 个体解释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5715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24A80"/>
                </a:solidFill>
                <a:latin typeface="Microsoft YaHei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